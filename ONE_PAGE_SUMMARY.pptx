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EABB19-A8FA-0FD7-084E-786078DF5BC1}" v="31" dt="2026-09-25T10:51:16.259"/>
    <p1510:client id="{CF3C74A0-3DE9-ED31-6F5C-E273831AE773}" v="1" dt="2026-09-25T10:39:16.7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addha Mehta" userId="S::shraddha169492@exlservice.com::6139b080-508f-40e5-b667-e36075f5d374" providerId="AD" clId="Web-{7FEABB19-A8FA-0FD7-084E-786078DF5BC1}"/>
    <pc:docChg chg="modSld">
      <pc:chgData name="Shraddha Mehta" userId="S::shraddha169492@exlservice.com::6139b080-508f-40e5-b667-e36075f5d374" providerId="AD" clId="Web-{7FEABB19-A8FA-0FD7-084E-786078DF5BC1}" dt="2026-09-25T10:51:09.900" v="29" actId="20577"/>
      <pc:docMkLst>
        <pc:docMk/>
      </pc:docMkLst>
      <pc:sldChg chg="modSp">
        <pc:chgData name="Shraddha Mehta" userId="S::shraddha169492@exlservice.com::6139b080-508f-40e5-b667-e36075f5d374" providerId="AD" clId="Web-{7FEABB19-A8FA-0FD7-084E-786078DF5BC1}" dt="2026-09-25T10:51:09.900" v="29" actId="20577"/>
        <pc:sldMkLst>
          <pc:docMk/>
          <pc:sldMk cId="0" sldId="256"/>
        </pc:sldMkLst>
        <pc:spChg chg="mod">
          <ac:chgData name="Shraddha Mehta" userId="S::shraddha169492@exlservice.com::6139b080-508f-40e5-b667-e36075f5d374" providerId="AD" clId="Web-{7FEABB19-A8FA-0FD7-084E-786078DF5BC1}" dt="2026-09-25T10:51:09.900" v="29" actId="20577"/>
          <ac:spMkLst>
            <pc:docMk/>
            <pc:sldMk cId="0" sldId="256"/>
            <ac:spMk id="4" creationId="{00000000-0000-0000-0000-000000000000}"/>
          </ac:spMkLst>
        </pc:spChg>
      </pc:sldChg>
    </pc:docChg>
  </pc:docChgLst>
  <pc:docChgLst>
    <pc:chgData name="Shraddha Mehta" userId="S::shraddha169492@exlservice.com::6139b080-508f-40e5-b667-e36075f5d374" providerId="AD" clId="Web-{CF3C74A0-3DE9-ED31-6F5C-E273831AE773}"/>
    <pc:docChg chg="modSld">
      <pc:chgData name="Shraddha Mehta" userId="S::shraddha169492@exlservice.com::6139b080-508f-40e5-b667-e36075f5d374" providerId="AD" clId="Web-{CF3C74A0-3DE9-ED31-6F5C-E273831AE773}" dt="2026-09-25T10:39:16.729" v="0" actId="20577"/>
      <pc:docMkLst>
        <pc:docMk/>
      </pc:docMkLst>
      <pc:sldChg chg="modSp">
        <pc:chgData name="Shraddha Mehta" userId="S::shraddha169492@exlservice.com::6139b080-508f-40e5-b667-e36075f5d374" providerId="AD" clId="Web-{CF3C74A0-3DE9-ED31-6F5C-E273831AE773}" dt="2026-09-25T10:39:16.729" v="0" actId="20577"/>
        <pc:sldMkLst>
          <pc:docMk/>
          <pc:sldMk cId="0" sldId="256"/>
        </pc:sldMkLst>
        <pc:spChg chg="mod">
          <ac:chgData name="Shraddha Mehta" userId="S::shraddha169492@exlservice.com::6139b080-508f-40e5-b667-e36075f5d374" providerId="AD" clId="Web-{CF3C74A0-3DE9-ED31-6F5C-E273831AE773}" dt="2026-09-25T10:39:16.729" v="0" actId="20577"/>
          <ac:spMkLst>
            <pc:docMk/>
            <pc:sldMk cId="0" sldId="256"/>
            <ac:spMk id="5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5B59B5-55AA-42B8-81F3-F40EBA5635EB}" type="datetimeFigureOut"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AA8DB-7A7E-43D8-AF77-7717DAA7B52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143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· ONE-PAGE SUMMARY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20624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400">
                <a:solidFill>
                  <a:srgbClr val="FFFFFF"/>
                </a:solidFill>
                <a:latin typeface="Cambria"/>
              </a:rPr>
              <a:t>Demand Signal Feature Store — Architecture, Trade-offs &amp; Limitations</a:t>
            </a:r>
            <a:endParaRPr lang="en-US" sz="240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9144000" y="38404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>
                <a:solidFill>
                  <a:srgbClr val="F3E7DF"/>
                </a:solidFill>
              </a:rPr>
              <a:t>Track: 2   ·   Domain: Supply Chain / Retail   ·   Team: Damie   ·   Date: 29 Sep 2026</a:t>
            </a:r>
            <a:endParaRPr lang="en-US" sz="950" dirty="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1481328" cy="822960"/>
          </a:xfrm>
          <a:prstGeom prst="roundRect">
            <a:avLst>
              <a:gd name="adj" fmla="val 6667"/>
            </a:avLst>
          </a:prstGeom>
          <a:solidFill>
            <a:srgbClr val="1C1C1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572768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50">
                <a:solidFill>
                  <a:srgbClr val="FFFFFF"/>
                </a:solidFill>
              </a:rPr>
              <a:t>Supplier
Notes (58)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1572768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48256" y="1572768"/>
            <a:ext cx="1481328" cy="822960"/>
          </a:xfrm>
          <a:prstGeom prst="roundRect">
            <a:avLst>
              <a:gd name="adj" fmla="val 6667"/>
            </a:avLst>
          </a:prstGeom>
          <a:solidFill>
            <a:srgbClr val="FB4E0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048256" y="1572768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50">
                <a:solidFill>
                  <a:srgbClr val="FFFFFF"/>
                </a:solidFill>
              </a:rPr>
              <a:t>GPT-4o
Extraction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511296" y="1572768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39312" y="1572768"/>
            <a:ext cx="1481328" cy="822960"/>
          </a:xfrm>
          <a:prstGeom prst="roundRect">
            <a:avLst>
              <a:gd name="adj" fmla="val 6667"/>
            </a:avLst>
          </a:prstGeom>
          <a:solidFill>
            <a:srgbClr val="1C1C1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39312" y="1572768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50">
                <a:solidFill>
                  <a:srgbClr val="FFFFFF"/>
                </a:solidFill>
              </a:rPr>
              <a:t>Feature Store
(Parquet)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102352" y="1572768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30368" y="1572768"/>
            <a:ext cx="1481328" cy="822960"/>
          </a:xfrm>
          <a:prstGeom prst="roundRect">
            <a:avLst>
              <a:gd name="adj" fmla="val 6667"/>
            </a:avLst>
          </a:prstGeom>
          <a:solidFill>
            <a:srgbClr val="FB4E0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230368" y="1572768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50">
                <a:solidFill>
                  <a:srgbClr val="FFFFFF"/>
                </a:solidFill>
              </a:rPr>
              <a:t>PSI Drift
Monitoring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693408" y="1572768"/>
            <a:ext cx="18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21424" y="1572768"/>
            <a:ext cx="1481328" cy="822960"/>
          </a:xfrm>
          <a:prstGeom prst="roundRect">
            <a:avLst>
              <a:gd name="adj" fmla="val 6667"/>
            </a:avLst>
          </a:prstGeom>
          <a:solidFill>
            <a:srgbClr val="1C1C1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21424" y="1572768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50">
                <a:solidFill>
                  <a:srgbClr val="FFFFFF"/>
                </a:solidFill>
              </a:rPr>
              <a:t>XGBoost
Forecast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412480" y="1572768"/>
            <a:ext cx="3319272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6DE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95360" y="1691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595360" y="201168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050" b="0">
                <a:solidFill>
                  <a:srgbClr val="1C1C1C"/>
                </a:solidFill>
                <a:latin typeface="Calibri"/>
              </a:rPr>
              <a:t>Model/LLM: GPT-4o via OpenRouter (extraction), XGBoost (forecasting)</a:t>
            </a:r>
          </a:p>
          <a:p>
            <a:r>
              <a:rPr sz="1050" b="0">
                <a:solidFill>
                  <a:srgbClr val="1C1C1C"/>
                </a:solidFill>
                <a:latin typeface="Calibri"/>
              </a:rPr>
              <a:t>Framework: pandas, numpy, scipy, python-dotenv</a:t>
            </a:r>
          </a:p>
          <a:p>
            <a:r>
              <a:rPr sz="1050" b="0">
                <a:solidFill>
                  <a:srgbClr val="1C1C1C"/>
                </a:solidFill>
                <a:latin typeface="Calibri"/>
              </a:rPr>
              <a:t>Data store: Apache Parquet feature store + CSV lineage metadata</a:t>
            </a:r>
          </a:p>
          <a:p>
            <a:r>
              <a:rPr sz="1050" b="0">
                <a:solidFill>
                  <a:srgbClr val="1C1C1C"/>
                </a:solidFill>
                <a:latin typeface="Calibri"/>
              </a:rPr>
              <a:t>Eval/monitoring: PSI/CSI drift detection, 24h freshness SLA</a:t>
            </a:r>
          </a:p>
          <a:p>
            <a:r>
              <a:rPr sz="1050" b="0">
                <a:solidFill>
                  <a:srgbClr val="1C1C1C"/>
                </a:solidFill>
                <a:latin typeface="Calibri"/>
              </a:rPr>
              <a:t>Deployment: Jupyter notebook (single Run All), Git/GitHub</a:t>
            </a:r>
          </a:p>
        </p:txBody>
      </p:sp>
      <p:sp>
        <p:nvSpPr>
          <p:cNvPr id="24" name="Shape 22"/>
          <p:cNvSpPr/>
          <p:nvPr/>
        </p:nvSpPr>
        <p:spPr>
          <a:xfrm>
            <a:off x="457200" y="2514600"/>
            <a:ext cx="777240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6DED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2606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292608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1050">
                <a:solidFill>
                  <a:srgbClr val="6E6A66"/>
                </a:solidFill>
                <a:latin typeface="Calibri"/>
              </a:rPr>
              <a:t>Synthetic ERP data (2,700 daily records, 92 POs, 5 SKUs, 4 suppliers) flows into a feature engineering pipeline that computes 15 structured features. In parallel, 58 supplier notes are sent to GPT-4o, which extracts early_delay_flag, expected_delay_days, and delay_reason into structured JSON. Both feature sets merge in a Parquet feature store with lineage tracking and a 24h freshness SLA. Two identical XGBoost models are trained — Baseline (ERP only) vs Enhanced (ERP + notes) — on a chronological 80/20 split. The enhanced model reduces MAPE from 25.01% to 23.36% (-6.6%), with early_delay_flag ranking as the #1 most important feature. The key design decision: excluding delay_reason from the model despite extracting it — PSI of 1.06 confirmed it drifts too heavily for stable prediction.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114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434840"/>
          <a:ext cx="6858000" cy="16459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Chosen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 rejected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1C1C"/>
                          </a:solidFill>
                          <a:latin typeface="Calibri"/>
                        </a:rPr>
                        <a:t>LLM feature selection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1C1C"/>
                          </a:solidFill>
                          <a:latin typeface="Calibri"/>
                        </a:rPr>
                        <a:t>2 of 3 extracted fields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1C1C"/>
                          </a:solidFill>
                          <a:latin typeface="Calibri"/>
                        </a:rPr>
                        <a:t>Use all 3 (incl. delay_reason)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1C1C"/>
                          </a:solidFill>
                          <a:latin typeface="Calibri"/>
                        </a:rPr>
                        <a:t>delay_reason PSI = 1.06; too variable across LLM runs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1C1C"/>
                          </a:solidFill>
                          <a:latin typeface="Calibri"/>
                        </a:rPr>
                        <a:t>Model algorithm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1C1C"/>
                          </a:solidFill>
                          <a:latin typeface="Calibri"/>
                        </a:rPr>
                        <a:t>XGBoost (tree-based)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1C1C"/>
                          </a:solidFill>
                          <a:latin typeface="Calibri"/>
                        </a:rPr>
                        <a:t>Linear regression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1C1C"/>
                          </a:solidFill>
                          <a:latin typeface="Calibri"/>
                        </a:rPr>
                        <a:t>Non-linear feature interactions in supply chain data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1C1C"/>
                          </a:solidFill>
                          <a:latin typeface="Calibri"/>
                        </a:rPr>
                        <a:t>Hyperparameters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1C1C"/>
                          </a:solidFill>
                          <a:latin typeface="Calibri"/>
                        </a:rPr>
                        <a:t>Fixed (n=200, depth=5)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1C1C"/>
                          </a:solidFill>
                          <a:latin typeface="Calibri"/>
                        </a:rPr>
                        <a:t>Tuned per model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C1C1C"/>
                          </a:solidFill>
                          <a:latin typeface="Calibri"/>
                        </a:rPr>
                        <a:t>Fair comparison; same config isolates feature value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" name="Text 26"/>
          <p:cNvSpPr txBox="1"/>
          <p:nvPr/>
        </p:nvSpPr>
        <p:spPr>
          <a:xfrm>
            <a:off x="7543800" y="41148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B4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NEXT STEPS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7543800" y="4434840"/>
            <a:ext cx="4187952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6DED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726680" y="457200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050" b="0">
                <a:solidFill>
                  <a:srgbClr val="1C1C1C"/>
                </a:solidFill>
                <a:latin typeface="Calibri"/>
              </a:rPr>
              <a:t>Does not do yet: Real-time extraction, automated retraining, multi-supplier overlap, cloud deployment</a:t>
            </a:r>
          </a:p>
          <a:p>
            <a:r>
              <a:rPr sz="1050" b="0">
                <a:solidFill>
                  <a:srgbClr val="1C1C1C"/>
                </a:solidFill>
                <a:latin typeface="Calibri"/>
              </a:rPr>
              <a:t>Data / scope: Synthetic data (540 days, 5 SKUs); real supplier notes may have more variability</a:t>
            </a:r>
          </a:p>
          <a:p>
            <a:r>
              <a:rPr sz="1050" b="0">
                <a:solidFill>
                  <a:srgbClr val="1C1C1C"/>
                </a:solidFill>
                <a:latin typeface="Calibri"/>
              </a:rPr>
              <a:t>Known failure modes: LLM API outage degrades to ERP-only features (graceful fallback); daily MAPE of ~23% is typical for SKU-level forecasting</a:t>
            </a:r>
          </a:p>
          <a:p>
            <a:r>
              <a:rPr sz="1050" b="0">
                <a:solidFill>
                  <a:srgbClr val="1C1C1C"/>
                </a:solidFill>
                <a:latin typeface="Calibri"/>
              </a:rPr>
              <a:t>Next step: Hyperparameter tuning (Optuna) + Azure deployment (Blob Storage + Azure ML) for production-ready pipeline</a:t>
            </a:r>
          </a:p>
        </p:txBody>
      </p:sp>
      <p:sp>
        <p:nvSpPr>
          <p:cNvPr id="32" name="Text 29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9B958F"/>
                </a:solidFill>
              </a:rPr>
              <a:t>EXL · AI Services Capstone · Demand Signal Feature Store — One-page summary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One-Page Summary Template</dc:title>
  <dc:subject>PptxGenJS Presentation</dc:subject>
  <dc:creator>PptxGenJS</dc:creator>
  <cp:lastModifiedBy>PptxGenJS</cp:lastModifiedBy>
  <cp:revision>5</cp:revision>
  <dcterms:created xsi:type="dcterms:W3CDTF">2026-09-04T07:15:36Z</dcterms:created>
  <dcterms:modified xsi:type="dcterms:W3CDTF">2026-09-25T10:51:16Z</dcterms:modified>
</cp:coreProperties>
</file>