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j Naik" userId="4d95ea08-a31e-4e1b-8640-3068cc002158" providerId="ADAL" clId="{7C69D9E6-AC84-3BC1-A4DB-BDDB9A9809EE}"/>
    <pc:docChg chg="undo custSel modSld">
      <pc:chgData name="Anuj Naik" userId="4d95ea08-a31e-4e1b-8640-3068cc002158" providerId="ADAL" clId="{7C69D9E6-AC84-3BC1-A4DB-BDDB9A9809EE}" dt="2026-09-25T15:47:04.942" v="722" actId="20577"/>
      <pc:docMkLst>
        <pc:docMk/>
      </pc:docMkLst>
      <pc:sldChg chg="modSp mod">
        <pc:chgData name="Anuj Naik" userId="4d95ea08-a31e-4e1b-8640-3068cc002158" providerId="ADAL" clId="{7C69D9E6-AC84-3BC1-A4DB-BDDB9A9809EE}" dt="2026-09-25T14:35:31.013" v="256" actId="20577"/>
        <pc:sldMkLst>
          <pc:docMk/>
          <pc:sldMk cId="0" sldId="256"/>
        </pc:sldMkLst>
        <pc:spChg chg="mod">
          <ac:chgData name="Anuj Naik" userId="4d95ea08-a31e-4e1b-8640-3068cc002158" providerId="ADAL" clId="{7C69D9E6-AC84-3BC1-A4DB-BDDB9A9809EE}" dt="2026-09-25T13:53:28.270" v="230" actId="14100"/>
          <ac:spMkLst>
            <pc:docMk/>
            <pc:sldMk cId="0" sldId="256"/>
            <ac:spMk id="5" creationId="{00000000-0000-0000-0000-000000000000}"/>
          </ac:spMkLst>
        </pc:spChg>
        <pc:spChg chg="mod">
          <ac:chgData name="Anuj Naik" userId="4d95ea08-a31e-4e1b-8640-3068cc002158" providerId="ADAL" clId="{7C69D9E6-AC84-3BC1-A4DB-BDDB9A9809EE}" dt="2026-09-25T14:35:31.013" v="256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Anuj Naik" userId="4d95ea08-a31e-4e1b-8640-3068cc002158" providerId="ADAL" clId="{7C69D9E6-AC84-3BC1-A4DB-BDDB9A9809EE}" dt="2026-09-25T13:38:37.084" v="54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nuj Naik" userId="4d95ea08-a31e-4e1b-8640-3068cc002158" providerId="ADAL" clId="{7C69D9E6-AC84-3BC1-A4DB-BDDB9A9809EE}" dt="2026-09-25T13:39:42.152" v="164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Anuj Naik" userId="4d95ea08-a31e-4e1b-8640-3068cc002158" providerId="ADAL" clId="{7C69D9E6-AC84-3BC1-A4DB-BDDB9A9809EE}" dt="2026-09-25T14:35:03.570" v="239" actId="20577"/>
        <pc:sldMkLst>
          <pc:docMk/>
          <pc:sldMk cId="0" sldId="257"/>
        </pc:sldMkLst>
        <pc:spChg chg="mod">
          <ac:chgData name="Anuj Naik" userId="4d95ea08-a31e-4e1b-8640-3068cc002158" providerId="ADAL" clId="{7C69D9E6-AC84-3BC1-A4DB-BDDB9A9809EE}" dt="2026-09-25T14:32:29.775" v="234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Anuj Naik" userId="4d95ea08-a31e-4e1b-8640-3068cc002158" providerId="ADAL" clId="{7C69D9E6-AC84-3BC1-A4DB-BDDB9A9809EE}" dt="2026-09-25T14:34:18.689" v="236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nuj Naik" userId="4d95ea08-a31e-4e1b-8640-3068cc002158" providerId="ADAL" clId="{7C69D9E6-AC84-3BC1-A4DB-BDDB9A9809EE}" dt="2026-09-25T14:35:03.570" v="239" actId="20577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Anuj Naik" userId="4d95ea08-a31e-4e1b-8640-3068cc002158" providerId="ADAL" clId="{7C69D9E6-AC84-3BC1-A4DB-BDDB9A9809EE}" dt="2026-09-25T15:32:54.481" v="641" actId="20577"/>
        <pc:sldMkLst>
          <pc:docMk/>
          <pc:sldMk cId="0" sldId="258"/>
        </pc:sldMkLst>
        <pc:spChg chg="mod">
          <ac:chgData name="Anuj Naik" userId="4d95ea08-a31e-4e1b-8640-3068cc002158" providerId="ADAL" clId="{7C69D9E6-AC84-3BC1-A4DB-BDDB9A9809EE}" dt="2026-09-25T14:49:37.441" v="310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Anuj Naik" userId="4d95ea08-a31e-4e1b-8640-3068cc002158" providerId="ADAL" clId="{7C69D9E6-AC84-3BC1-A4DB-BDDB9A9809EE}" dt="2026-09-25T14:50:31.027" v="390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nuj Naik" userId="4d95ea08-a31e-4e1b-8640-3068cc002158" providerId="ADAL" clId="{7C69D9E6-AC84-3BC1-A4DB-BDDB9A9809EE}" dt="2026-09-25T14:51:28.806" v="460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nuj Naik" userId="4d95ea08-a31e-4e1b-8640-3068cc002158" providerId="ADAL" clId="{7C69D9E6-AC84-3BC1-A4DB-BDDB9A9809EE}" dt="2026-09-25T14:51:37.876" v="470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nuj Naik" userId="4d95ea08-a31e-4e1b-8640-3068cc002158" providerId="ADAL" clId="{7C69D9E6-AC84-3BC1-A4DB-BDDB9A9809EE}" dt="2026-09-25T14:51:57.267" v="495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nuj Naik" userId="4d95ea08-a31e-4e1b-8640-3068cc002158" providerId="ADAL" clId="{7C69D9E6-AC84-3BC1-A4DB-BDDB9A9809EE}" dt="2026-09-25T15:00:15.218" v="556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Anuj Naik" userId="4d95ea08-a31e-4e1b-8640-3068cc002158" providerId="ADAL" clId="{7C69D9E6-AC84-3BC1-A4DB-BDDB9A9809EE}" dt="2026-09-25T15:32:54.481" v="641" actId="20577"/>
          <ac:spMkLst>
            <pc:docMk/>
            <pc:sldMk cId="0" sldId="258"/>
            <ac:spMk id="26" creationId="{00000000-0000-0000-0000-000000000000}"/>
          </ac:spMkLst>
        </pc:spChg>
      </pc:sldChg>
      <pc:sldChg chg="modSp mod">
        <pc:chgData name="Anuj Naik" userId="4d95ea08-a31e-4e1b-8640-3068cc002158" providerId="ADAL" clId="{7C69D9E6-AC84-3BC1-A4DB-BDDB9A9809EE}" dt="2026-09-25T15:41:32.140" v="698" actId="20577"/>
        <pc:sldMkLst>
          <pc:docMk/>
          <pc:sldMk cId="0" sldId="259"/>
        </pc:sldMkLst>
        <pc:spChg chg="mod">
          <ac:chgData name="Anuj Naik" userId="4d95ea08-a31e-4e1b-8640-3068cc002158" providerId="ADAL" clId="{7C69D9E6-AC84-3BC1-A4DB-BDDB9A9809EE}" dt="2026-09-25T15:41:32.140" v="698" actId="20577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Anuj Naik" userId="4d95ea08-a31e-4e1b-8640-3068cc002158" providerId="ADAL" clId="{7C69D9E6-AC84-3BC1-A4DB-BDDB9A9809EE}" dt="2026-09-25T15:47:04.942" v="722" actId="20577"/>
        <pc:sldMkLst>
          <pc:docMk/>
          <pc:sldMk cId="0" sldId="260"/>
        </pc:sldMkLst>
        <pc:spChg chg="mod">
          <ac:chgData name="Anuj Naik" userId="4d95ea08-a31e-4e1b-8640-3068cc002158" providerId="ADAL" clId="{7C69D9E6-AC84-3BC1-A4DB-BDDB9A9809EE}" dt="2026-09-25T15:46:13.210" v="712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Anuj Naik" userId="4d95ea08-a31e-4e1b-8640-3068cc002158" providerId="ADAL" clId="{7C69D9E6-AC84-3BC1-A4DB-BDDB9A9809EE}" dt="2026-09-25T15:47:04.942" v="722" actId="20577"/>
          <ac:spMkLst>
            <pc:docMk/>
            <pc:sldMk cId="0" sldId="260"/>
            <ac:spMk id="2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F47EC-ABA4-CC42-B6AD-2E43D84910D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FEF58-5F03-494B-AC2B-3EAB359B6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1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097280"/>
            <a:ext cx="3108960" cy="3108960"/>
          </a:xfrm>
          <a:prstGeom prst="ellipse">
            <a:avLst/>
          </a:prstGeom>
          <a:solidFill>
            <a:srgbClr val="FB4E0B"/>
          </a:solidFill>
          <a:ln w="12700">
            <a:solidFill>
              <a:srgbClr val="FB4E0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338560" y="4937760"/>
            <a:ext cx="2560320" cy="256032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 ·  AI SERVICES TRAINING PROGRAMME  ·  CAPSTONE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79" y="1554480"/>
            <a:ext cx="10825639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5400">
                <a:solidFill>
                  <a:srgbClr val="FFFFFF"/>
                </a:solidFill>
                <a:latin typeface="Cambria"/>
              </a:rPr>
              <a:t>Demand Signal Feature Store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>
                <a:solidFill>
                  <a:srgbClr val="F3E7DF"/>
                </a:solidFill>
                <a:latin typeface="Calibri"/>
              </a:rPr>
              <a:t>LLM-extracted supplier signals improve demand forecasting by 6.6%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</a:rPr>
              <a:t>Track 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</a:rPr>
              <a:t>Supply Chain / Retail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</a:rPr>
              <a:t>Damie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F3E7DF"/>
                </a:solidFill>
              </a:rPr>
              <a:t>Presented by: Damie   ·   Date: 29 Sep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&amp; BUSINESS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>
                <a:solidFill>
                  <a:srgbClr val="1C1C1C"/>
                </a:solidFill>
                <a:latin typeface="Cambria"/>
              </a:rPr>
              <a:t>ERP forecasts miss early supplier delay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C1C1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92640" y="457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DED8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58368" y="1719072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103120"/>
            <a:ext cx="325526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b="0">
                <a:solidFill>
                  <a:srgbClr val="1C1C1C"/>
                </a:solidFill>
                <a:latin typeface="Calibri"/>
              </a:rPr>
              <a:t>•  ERP systems track structured data: orders, inventory, shipments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Supplier delay warnings arrive as free-text notes 5–12 days before ERP is updated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During this blind spot, the demand forecast is based on stale assumptions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Leads to inaccurate forecasts, excess safety stock, or stockouts</a:t>
            </a:r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DED8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498848" y="1719072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the status quo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103120"/>
            <a:ext cx="325526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b="0">
                <a:solidFill>
                  <a:srgbClr val="1C1C1C"/>
                </a:solidFill>
                <a:latin typeface="Calibri"/>
              </a:rPr>
              <a:t>•  Forecast errors of 25%+ MAPE when relying only on ERP data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Inventory misallocation during supplier disruption windows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Manual monitoring of supplier emails — not scalable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No structured extraction from unstructured supplier communications</a:t>
            </a:r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339328" y="171907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/ why AI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103120"/>
            <a:ext cx="316382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•  LLMs (GPT-4o) can extract structured fields from free-text supplier notes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Feature stores enable systematic integration of LLM outputs with ERP data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Drift detection (PSI) ensures extracted features remain reliable over time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Result: automated, scalable early-warning pipeline for demand forecasting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9B958F"/>
                </a:solidFill>
              </a:rPr>
              <a:t>Speaker guidance: explain the 5–12 day gap between note arrival and ERP update — this is the core value proposition.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 Capstone · Pitch Deck Template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E6A66"/>
                </a:solidFill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>
                <a:solidFill>
                  <a:srgbClr val="1C1C1C"/>
                </a:solidFill>
                <a:latin typeface="Cambria"/>
              </a:rPr>
              <a:t>Feature store pipeline: notes + ERP → enhanced forecast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C1C1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92640" y="457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C1C1C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57200" y="160020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</a:rPr>
              <a:t>Supplier Notes
(58 texts)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160020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06624" y="160020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B4E0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706624" y="160020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</a:rPr>
              <a:t>GPT-4o
Extraction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160020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56048" y="160020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C1C1C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956048" y="160020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</a:rPr>
              <a:t>Feature Store
(Parquet)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60020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05472" y="160020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B4E0B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205472" y="160020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>
                <a:solidFill>
                  <a:srgbClr val="1C1C1C"/>
                </a:solidFill>
              </a:rPr>
              <a:t>XGBoost
Regression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160020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454896" y="160020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C1C1C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9454896" y="160020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</a:rPr>
              <a:t>Next-Day
Forecast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743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9B958F"/>
                </a:solidFill>
              </a:rPr>
              <a:t>Data flows left → right: 58 supplier notes are processed by GPT-4o into structured signals, merged with 15 ERP features in a Parquet feature store, then fed to XGBoost for next-day sales prediction.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5623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6DED8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58368" y="3364992"/>
            <a:ext cx="522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&amp; choices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3749040"/>
            <a:ext cx="522122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b="0">
                <a:solidFill>
                  <a:srgbClr val="1C1C1C"/>
                </a:solidFill>
                <a:latin typeface="Calibri"/>
              </a:rPr>
              <a:t>•  LLM Extraction — GPT-4o extracts early_delay_flag, expected_delay_days, delay_reason from each note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Feature Store — 18 features in Parquet with lineage metadata and 24h freshness SLA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Drift Monitoring — PSI/CSI tracks feature stability; alerts on distribution shift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Leakage Prevention — chronological split, lag shifting, temporal windowing of note signals</a:t>
            </a:r>
          </a:p>
        </p:txBody>
      </p:sp>
      <p:sp>
        <p:nvSpPr>
          <p:cNvPr id="24" name="Shape 22"/>
          <p:cNvSpPr/>
          <p:nvPr/>
        </p:nvSpPr>
        <p:spPr>
          <a:xfrm>
            <a:off x="6263640" y="3200400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464808" y="3364992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competencies integrated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64808" y="3749040"/>
            <a:ext cx="503834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•  Generative AI — LLM-based structured extraction from unstructured text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ML Engineering — XGBoost regression, feature engineering, chronological evaluation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Data Engineering — Feature store design with Parquet storage and lineage tracking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MLOps — PSI drift detection, freshness SLA monitoring, production-readiness patterns</a:t>
            </a:r>
          </a:p>
        </p:txBody>
      </p:sp>
      <p:sp>
        <p:nvSpPr>
          <p:cNvPr id="27" name="Text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 Capstone · Pitch Deck Template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E6A66"/>
                </a:solidFill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>
                <a:solidFill>
                  <a:srgbClr val="FFFFFF"/>
                </a:solidFill>
                <a:latin typeface="Cambria"/>
              </a:rPr>
              <a:t>End-to-end notebook: data → extraction → forecast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B4E0B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92640" y="457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040880" cy="4297680"/>
          </a:xfrm>
          <a:prstGeom prst="roundRect">
            <a:avLst>
              <a:gd name="adj" fmla="val 1277"/>
            </a:avLst>
          </a:prstGeom>
          <a:solidFill>
            <a:srgbClr val="2A2A2A"/>
          </a:solidFill>
          <a:ln w="19050">
            <a:solidFill>
              <a:srgbClr val="FB4E0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57200" y="32918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>
                <a:solidFill>
                  <a:srgbClr val="F3E7DF"/>
                </a:solidFill>
              </a:rPr>
              <a:t>▶  Run notebooks/main.ipynb end-to-end in VS Code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776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9B958F"/>
                </a:solidFill>
              </a:rPr>
              <a:t>Run the notebook live. Show: (1) data generation, (2) LLM extraction with real API calls, (3) feature store creation, (4) model comparison. Have saved outputs as fallback.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80960" y="1554480"/>
            <a:ext cx="4023360" cy="4297680"/>
          </a:xfrm>
          <a:prstGeom prst="roundRect">
            <a:avLst>
              <a:gd name="adj" fmla="val 1818"/>
            </a:avLst>
          </a:prstGeom>
          <a:solidFill>
            <a:srgbClr val="2A2A2A"/>
          </a:solidFill>
          <a:ln w="12700">
            <a:solidFill>
              <a:srgbClr val="FB4E0B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882128" y="1719072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882128" y="2139696"/>
            <a:ext cx="3621024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•  Step 1: Generate synthetic data — show 2,700 daily records, 92 POs, 58 notes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Step 2: Run LLM extraction — watch GPT-4o process notes, 48/58 flagged as delays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Step 3: Build feature store — 18 features saved to Parquet with lineage metadata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Step 4: Train models — Baseline MAPE 25.01% vs Enhanced MAPE 23.36%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Step 5: Show feature importance — early_delay_flag is #1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Step 6: Drift detection — PSI confirms key features are stable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 Capstone · Pitch Deck Template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F3E7DF"/>
                </a:solidFill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RESULTS &amp;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>
                <a:solidFill>
                  <a:srgbClr val="1C1C1C"/>
                </a:solidFill>
                <a:latin typeface="Cambria"/>
              </a:rPr>
              <a:t>6.6% MAPE improvement with note-derived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C1C1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92640" y="457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DED8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>
                <a:solidFill>
                  <a:srgbClr val="FB4E0B"/>
                </a:solidFill>
              </a:rPr>
              <a:t>MAPE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400">
                <a:solidFill>
                  <a:srgbClr val="1C1C1C"/>
                </a:solidFill>
                <a:latin typeface="Cambria"/>
              </a:rPr>
              <a:t>-6.6%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6E6A66"/>
                </a:solidFill>
              </a:rPr>
              <a:t>25.01% → 23.36%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55448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DED8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4348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>
                <a:solidFill>
                  <a:srgbClr val="FB4E0B"/>
                </a:solidFill>
              </a:rPr>
              <a:t>MAE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400">
                <a:solidFill>
                  <a:srgbClr val="1C1C1C"/>
                </a:solidFill>
                <a:latin typeface="Cambria"/>
              </a:rPr>
              <a:t>-9.5%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6E6A66"/>
                </a:solidFill>
              </a:rPr>
              <a:t>5.03 → 4.55 units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DED8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>
                <a:solidFill>
                  <a:srgbClr val="FB4E0B"/>
                </a:solidFill>
              </a:rPr>
              <a:t>RMSE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400">
                <a:solidFill>
                  <a:srgbClr val="1C1C1C"/>
                </a:solidFill>
                <a:latin typeface="Cambria"/>
              </a:rPr>
              <a:t>-6.6%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6E6A66"/>
                </a:solidFill>
              </a:rPr>
              <a:t>6.80 → 6.35 units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6DED8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58368" y="3685032"/>
            <a:ext cx="522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4069080"/>
            <a:ext cx="522122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b="0">
                <a:solidFill>
                  <a:srgbClr val="1C1C1C"/>
                </a:solidFill>
                <a:latin typeface="Calibri"/>
              </a:rPr>
              <a:t>    Chronological Split — 80% train / 20% test by date (no random shuffle)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    Same Hyperparameters — Both models use identical XGBoost config for fair comparison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    Feature Importance — early_delay_flag is the #1 feature in the enhanced model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    Synthetic Data — 540 days, 5 SKUs, 4 suppliers with 35–55% reliability</a:t>
            </a:r>
          </a:p>
        </p:txBody>
      </p:sp>
      <p:sp>
        <p:nvSpPr>
          <p:cNvPr id="21" name="Shape 19"/>
          <p:cNvSpPr/>
          <p:nvPr/>
        </p:nvSpPr>
        <p:spPr>
          <a:xfrm>
            <a:off x="6263640" y="35204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464808" y="3685032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FF8A5B"/>
                </a:solidFill>
              </a:rPr>
              <a:t>Monitoring &amp; drift detection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4069080"/>
            <a:ext cx="503834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    PSI Drift Detection — early_delay_flag PSI = 0.07 (stable), delay_reason PSI = 1.06 (excluded)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  Freshness SLA — 24-hour check on all feature timestamps before inference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  Lineage Tracking — Every extraction tagged with timestamp, model version, source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  Feature Store — Parquet storage with CSV lineage metadata for full traceability</a:t>
            </a:r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 Capstone · Pitch Deck Template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E6A66"/>
                </a:solidFill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LIMITATIONS &amp;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>
                <a:solidFill>
                  <a:srgbClr val="1C1C1C"/>
                </a:solidFill>
                <a:latin typeface="Cambria"/>
              </a:rPr>
              <a:t>Honest constraints and the roadmap forward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C1C1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92640" y="457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703320" cy="39319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6DED8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58368" y="1719072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103120"/>
            <a:ext cx="3300984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b="0">
                <a:solidFill>
                  <a:srgbClr val="1C1C1C"/>
                </a:solidFill>
                <a:latin typeface="Calibri"/>
              </a:rPr>
              <a:t>•  Synthetic data only — real supplier notes may have more variability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Single notebook, not a deployed service — no API or scheduling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No hyperparameter tuning — MAPE could be lower with optimization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One supplier per SKU — no multi-supplier overlap handling</a:t>
            </a:r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703320" cy="39319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6DED8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544568" y="1719072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made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103120"/>
            <a:ext cx="3300984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b="0">
                <a:solidFill>
                  <a:srgbClr val="1C1C1C"/>
                </a:solidFill>
                <a:latin typeface="Calibri"/>
              </a:rPr>
              <a:t>•  Excluded delay_reason from model — traded semantic richness for stability (PSI confirmed)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XGBoost over linear regression — traded interpretability for non-linear accuracy</a:t>
            </a:r>
          </a:p>
          <a:p>
            <a:r>
              <a:rPr sz="1200" b="0">
                <a:solidFill>
                  <a:srgbClr val="1C1C1C"/>
                </a:solidFill>
                <a:latin typeface="Calibri"/>
              </a:rPr>
              <a:t>•  Daily granularity — traded lower MAPE (weekly) for more actionable daily predictions</a:t>
            </a:r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76200" dist="25400" dir="5400000" algn="bl" rotWithShape="0">
              <a:srgbClr val="BFB4A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430768" y="171907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2103120"/>
            <a:ext cx="3072384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•  Hyperparameter tuning (Optuna/GridSearchCV) for further MAPE reduction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Azure deployment — Blob Storage for features, Azure ML for inference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Real-time extraction — streaming LLM as notes arrive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•  Automated retraining triggered by PSI drift alerts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>
                <a:solidFill>
                  <a:srgbClr val="FB4E0B"/>
                </a:solidFill>
              </a:rPr>
              <a:t>Thank you — questions welcome.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 Capstone · Pitch Deck Template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E6A66"/>
                </a:solidFill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Pitch Deck Template</dc:title>
  <dc:subject>PptxGenJS Presentation</dc:subject>
  <dc:creator>EXL · AI Services Training Programme</dc:creator>
  <cp:lastModifiedBy>Anuj Naik</cp:lastModifiedBy>
  <cp:revision>4</cp:revision>
  <dcterms:created xsi:type="dcterms:W3CDTF">2026-09-04T07:15:04Z</dcterms:created>
  <dcterms:modified xsi:type="dcterms:W3CDTF">2026-09-25T15:47:08Z</dcterms:modified>
</cp:coreProperties>
</file>